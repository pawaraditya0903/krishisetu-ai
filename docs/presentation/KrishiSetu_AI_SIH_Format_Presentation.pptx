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1" r:id="rId2"/>
    <p:sldId id="292" r:id="rId3"/>
    <p:sldId id="262" r:id="rId4"/>
    <p:sldId id="293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awaraditya0903/krishisetu-ai" TargetMode="External"/><Relationship Id="rId3" Type="http://schemas.openxmlformats.org/officeDocument/2006/relationships/image" Target="../media/image4.jpg"/><Relationship Id="rId7" Type="http://schemas.openxmlformats.org/officeDocument/2006/relationships/image" Target="../media/image7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krishisetu-ai-mu.vercel.app/" TargetMode="External"/><Relationship Id="rId5" Type="http://schemas.openxmlformats.org/officeDocument/2006/relationships/image" Target="../media/image6.jpg"/><Relationship Id="rId4" Type="http://schemas.openxmlformats.org/officeDocument/2006/relationships/image" Target="../media/image5.jp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lightgbm.readthedocs.io/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developers.google.com/optimization/routing/cvrptw" TargetMode="External"/><Relationship Id="rId12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hashini.gov.in/" TargetMode="External"/><Relationship Id="rId11" Type="http://schemas.openxmlformats.org/officeDocument/2006/relationships/image" Target="../media/image15.png"/><Relationship Id="rId5" Type="http://schemas.openxmlformats.org/officeDocument/2006/relationships/hyperlink" Target="https://agmarknet.gov.in/" TargetMode="External"/><Relationship Id="rId10" Type="http://schemas.openxmlformats.org/officeDocument/2006/relationships/hyperlink" Target="https://agricoop.nic.in/" TargetMode="External"/><Relationship Id="rId4" Type="http://schemas.openxmlformats.org/officeDocument/2006/relationships/hyperlink" Target="https://enam.gov.in/web/" TargetMode="External"/><Relationship Id="rId9" Type="http://schemas.openxmlformats.org/officeDocument/2006/relationships/hyperlink" Target="https://csrc.nist.gov/publications/detail/fips/180-4/fina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957406" y="2048189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610314" y="1057453"/>
            <a:ext cx="8256086" cy="564975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06680" y="149307"/>
            <a:ext cx="9673406" cy="851518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389" y="89208"/>
            <a:ext cx="2249850" cy="10623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464B09-5200-B2F3-DF65-C64A9FA05963}"/>
              </a:ext>
            </a:extLst>
          </p:cNvPr>
          <p:cNvSpPr txBox="1"/>
          <p:nvPr/>
        </p:nvSpPr>
        <p:spPr>
          <a:xfrm>
            <a:off x="315494" y="2150439"/>
            <a:ext cx="5780506" cy="36933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dirty="0">
                <a:solidFill>
                  <a:srgbClr val="212529"/>
                </a:solidFill>
                <a:latin typeface="montserratregular"/>
              </a:rPr>
              <a:t>26132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dirty="0">
              <a:solidFill>
                <a:srgbClr val="212529"/>
              </a:solidFill>
              <a:latin typeface="montserratregular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- </a:t>
            </a:r>
            <a:r>
              <a:rPr lang="en-IN" dirty="0"/>
              <a:t>Strengthening market linkages and price discovery for farmers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Theme -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Agriculture,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FoodTech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&amp; Rural Development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Software/Hardware: </a:t>
            </a:r>
            <a:r>
              <a:rPr lang="en-IN" dirty="0"/>
              <a:t>Software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Name:</a:t>
            </a:r>
            <a:r>
              <a:rPr lang="en-IN" dirty="0"/>
              <a:t>Conquerors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1_img3_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4592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Segoe UI"/>
              </a:rPr>
              <a:t>KrishiSetu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5836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475569"/>
                </a:solidFill>
                <a:latin typeface="Segoe UI"/>
              </a:rPr>
              <a:t>Bridging Farm Gate to True Net Income</a:t>
            </a:r>
          </a:p>
        </p:txBody>
      </p:sp>
      <p:pic>
        <p:nvPicPr>
          <p:cNvPr id="7" name="Picture 6" descr="sih_s2_left_solution_17903153307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88720"/>
            <a:ext cx="3383280" cy="5029200"/>
          </a:xfrm>
          <a:prstGeom prst="rect">
            <a:avLst/>
          </a:prstGeom>
        </p:spPr>
      </p:pic>
      <p:pic>
        <p:nvPicPr>
          <p:cNvPr id="9" name="Picture 8" descr="sih_s2_workflow_17903154048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400" y="2651760"/>
            <a:ext cx="7863840" cy="2240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023360" y="5138928"/>
            <a:ext cx="7772400" cy="190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89120" y="525780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p2_img12_17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539496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03520" y="5303520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F172A"/>
                </a:solidFill>
                <a:latin typeface="Segoe UI"/>
              </a:rPr>
              <a:t>Hosted Website
</a:t>
            </a:r>
          </a:p>
          <a:p>
            <a:r>
              <a:rPr sz="1400" b="1" u="sng">
                <a:solidFill>
                  <a:srgbClr val="1D4ED8"/>
                </a:solidFill>
                <a:latin typeface="Segoe UI"/>
                <a:hlinkClick r:id="rId6"/>
              </a:rPr>
              <a:t>Click here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25780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p2_img13_18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539496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5303520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Segoe UI"/>
              </a:rPr>
              <a:t>GitHub
</a:t>
            </a:r>
          </a:p>
          <a:p>
            <a:r>
              <a:rPr sz="1400" b="1" u="sng">
                <a:solidFill>
                  <a:srgbClr val="1D4ED8"/>
                </a:solidFill>
                <a:latin typeface="Segoe UI"/>
                <a:hlinkClick r:id="rId8"/>
              </a:rPr>
              <a:t>Click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196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0" y="6455664"/>
            <a:ext cx="6702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SMART INDIA HACKATHON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E7408B6-BF4E-5911-408E-7FC2BC00E7F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28154"/>
            <a:ext cx="1137920" cy="1062168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12AE516-BEAB-C0D5-ADFF-597429C52E09}"/>
              </a:ext>
            </a:extLst>
          </p:cNvPr>
          <p:cNvSpPr/>
          <p:nvPr/>
        </p:nvSpPr>
        <p:spPr>
          <a:xfrm>
            <a:off x="4160520" y="1280160"/>
            <a:ext cx="132588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dirty="0"/>
              <a:t>🌾
</a:t>
            </a:r>
          </a:p>
          <a:p>
            <a:pPr algn="ctr"/>
            <a:r>
              <a:rPr sz="900" b="1" dirty="0">
                <a:solidFill>
                  <a:srgbClr val="196DB3"/>
                </a:solidFill>
                <a:latin typeface="Segoe UI"/>
              </a:rPr>
              <a:t>1. Harvest
</a:t>
            </a:r>
          </a:p>
          <a:p>
            <a:pPr algn="ctr"/>
            <a:r>
              <a:rPr sz="900" dirty="0">
                <a:solidFill>
                  <a:srgbClr val="475569"/>
                </a:solidFill>
                <a:latin typeface="Segoe UI"/>
              </a:rPr>
              <a:t>Smallholder farmer
harvests crop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056EB5-BFCD-A63E-638E-3AF7B228EB18}"/>
              </a:ext>
            </a:extLst>
          </p:cNvPr>
          <p:cNvSpPr txBox="1"/>
          <p:nvPr/>
        </p:nvSpPr>
        <p:spPr>
          <a:xfrm>
            <a:off x="5458968" y="164592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4A3B8"/>
                </a:solidFill>
              </a:rPr>
              <a:t>➔</a:t>
            </a:r>
          </a:p>
        </p:txBody>
      </p:sp>
      <p:sp>
        <p:nvSpPr>
          <p:cNvPr id="30" name="Rounded Rectangle 27">
            <a:extLst>
              <a:ext uri="{FF2B5EF4-FFF2-40B4-BE49-F238E27FC236}">
                <a16:creationId xmlns:a16="http://schemas.microsoft.com/office/drawing/2014/main" id="{B4A55488-91C0-DAA8-B2E1-670EFBB586B7}"/>
              </a:ext>
            </a:extLst>
          </p:cNvPr>
          <p:cNvSpPr/>
          <p:nvPr/>
        </p:nvSpPr>
        <p:spPr>
          <a:xfrm>
            <a:off x="5669279" y="1280160"/>
            <a:ext cx="132588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dirty="0"/>
              <a:t>📱
</a:t>
            </a:r>
          </a:p>
          <a:p>
            <a:pPr algn="ctr"/>
            <a:r>
              <a:rPr sz="900" b="1" dirty="0">
                <a:solidFill>
                  <a:srgbClr val="196DB3"/>
                </a:solidFill>
                <a:latin typeface="Segoe UI"/>
              </a:rPr>
              <a:t>2. Vision AI
</a:t>
            </a:r>
          </a:p>
          <a:p>
            <a:pPr algn="ctr"/>
            <a:r>
              <a:rPr sz="900" dirty="0">
                <a:solidFill>
                  <a:srgbClr val="475569"/>
                </a:solidFill>
                <a:latin typeface="Segoe UI"/>
              </a:rPr>
              <a:t>Camera scan for
Grade A/B/C report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A6CA42-7E91-87FF-0CBB-B97C217A6788}"/>
              </a:ext>
            </a:extLst>
          </p:cNvPr>
          <p:cNvSpPr txBox="1"/>
          <p:nvPr/>
        </p:nvSpPr>
        <p:spPr>
          <a:xfrm>
            <a:off x="6967727" y="164592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4A3B8"/>
                </a:solidFill>
              </a:rPr>
              <a:t>➔</a:t>
            </a:r>
          </a:p>
        </p:txBody>
      </p:sp>
      <p:sp>
        <p:nvSpPr>
          <p:cNvPr id="34" name="Rounded Rectangle 29">
            <a:extLst>
              <a:ext uri="{FF2B5EF4-FFF2-40B4-BE49-F238E27FC236}">
                <a16:creationId xmlns:a16="http://schemas.microsoft.com/office/drawing/2014/main" id="{76FA3B98-FB7A-48F1-B7DE-0FDBE6A8CB16}"/>
              </a:ext>
            </a:extLst>
          </p:cNvPr>
          <p:cNvSpPr/>
          <p:nvPr/>
        </p:nvSpPr>
        <p:spPr>
          <a:xfrm>
            <a:off x="7178040" y="1280160"/>
            <a:ext cx="132588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dirty="0"/>
              <a:t>🏭
</a:t>
            </a:r>
          </a:p>
          <a:p>
            <a:pPr algn="ctr"/>
            <a:r>
              <a:rPr sz="900" b="1" dirty="0">
                <a:solidFill>
                  <a:srgbClr val="196DB3"/>
                </a:solidFill>
                <a:latin typeface="Segoe UI"/>
              </a:rPr>
              <a:t>3. FPO Hub
</a:t>
            </a:r>
          </a:p>
          <a:p>
            <a:pPr algn="ctr"/>
            <a:r>
              <a:rPr sz="900" dirty="0">
                <a:solidFill>
                  <a:srgbClr val="475569"/>
                </a:solidFill>
                <a:latin typeface="Segoe UI"/>
              </a:rPr>
              <a:t>Consignment weighed
&amp; aggregated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7F6A30-3C9C-26B4-E22F-9621FEB35449}"/>
              </a:ext>
            </a:extLst>
          </p:cNvPr>
          <p:cNvSpPr txBox="1"/>
          <p:nvPr/>
        </p:nvSpPr>
        <p:spPr>
          <a:xfrm>
            <a:off x="8476488" y="164592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4A3B8"/>
                </a:solidFill>
              </a:rPr>
              <a:t>➔</a:t>
            </a:r>
          </a:p>
        </p:txBody>
      </p:sp>
      <p:sp>
        <p:nvSpPr>
          <p:cNvPr id="38" name="Rounded Rectangle 31">
            <a:extLst>
              <a:ext uri="{FF2B5EF4-FFF2-40B4-BE49-F238E27FC236}">
                <a16:creationId xmlns:a16="http://schemas.microsoft.com/office/drawing/2014/main" id="{051EAC95-3DDF-D1CF-04C9-9DC2230F154F}"/>
              </a:ext>
            </a:extLst>
          </p:cNvPr>
          <p:cNvSpPr/>
          <p:nvPr/>
        </p:nvSpPr>
        <p:spPr>
          <a:xfrm>
            <a:off x="8686800" y="1280160"/>
            <a:ext cx="132588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dirty="0"/>
              <a:t>🚛
</a:t>
            </a:r>
          </a:p>
          <a:p>
            <a:pPr algn="ctr"/>
            <a:r>
              <a:rPr sz="900" b="1" dirty="0">
                <a:solidFill>
                  <a:srgbClr val="196DB3"/>
                </a:solidFill>
                <a:latin typeface="Segoe UI"/>
              </a:rPr>
              <a:t>4. Pooled Route
</a:t>
            </a:r>
          </a:p>
          <a:p>
            <a:pPr algn="ctr"/>
            <a:r>
              <a:rPr sz="900" dirty="0">
                <a:solidFill>
                  <a:srgbClr val="475569"/>
                </a:solidFill>
                <a:latin typeface="Segoe UI"/>
              </a:rPr>
              <a:t>Milk-run truck
cuts freight 32%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4EF5AA-5A11-C121-03B0-31BCBFC44AD3}"/>
              </a:ext>
            </a:extLst>
          </p:cNvPr>
          <p:cNvSpPr txBox="1"/>
          <p:nvPr/>
        </p:nvSpPr>
        <p:spPr>
          <a:xfrm>
            <a:off x="9985248" y="164592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4A3B8"/>
                </a:solidFill>
              </a:rPr>
              <a:t>➔</a:t>
            </a:r>
          </a:p>
        </p:txBody>
      </p:sp>
      <p:sp>
        <p:nvSpPr>
          <p:cNvPr id="42" name="Rounded Rectangle 33">
            <a:extLst>
              <a:ext uri="{FF2B5EF4-FFF2-40B4-BE49-F238E27FC236}">
                <a16:creationId xmlns:a16="http://schemas.microsoft.com/office/drawing/2014/main" id="{126D9613-6FF2-D7C7-9E4C-2E6374B5126C}"/>
              </a:ext>
            </a:extLst>
          </p:cNvPr>
          <p:cNvSpPr/>
          <p:nvPr/>
        </p:nvSpPr>
        <p:spPr>
          <a:xfrm>
            <a:off x="10195559" y="1280160"/>
            <a:ext cx="1325880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dirty="0"/>
              <a:t>🤝
</a:t>
            </a:r>
          </a:p>
          <a:p>
            <a:pPr algn="ctr"/>
            <a:r>
              <a:rPr sz="900" b="1" dirty="0">
                <a:solidFill>
                  <a:srgbClr val="196DB3"/>
                </a:solidFill>
                <a:latin typeface="Segoe UI"/>
              </a:rPr>
              <a:t>5. Fair Sale
</a:t>
            </a:r>
          </a:p>
          <a:p>
            <a:pPr algn="ctr"/>
            <a:r>
              <a:rPr sz="900" dirty="0">
                <a:solidFill>
                  <a:srgbClr val="475569"/>
                </a:solidFill>
                <a:latin typeface="Segoe UI"/>
              </a:rPr>
              <a:t>Verified gate receipt
&amp; direct payout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1_img3_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Georgia"/>
              </a:rPr>
              <a:t>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Segoe UI"/>
              </a:rPr>
              <a:t>Technology Used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377440" cy="658368"/>
          </a:xfrm>
          <a:prstGeom prst="roundRect">
            <a:avLst/>
          </a:prstGeom>
          <a:solidFill>
            <a:srgbClr val="FEEDD5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Data Sources
</a:t>
            </a:r>
            <a:r>
              <a:rPr sz="750" b="0">
                <a:solidFill>
                  <a:srgbClr val="1E293B"/>
                </a:solidFill>
                <a:latin typeface="Segoe UI"/>
              </a:rPr>
              <a:t>-AGMARKNET API
-e-NAM Mandi Portal
-MSAMB Live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03120"/>
            <a:ext cx="2377440" cy="658368"/>
          </a:xfrm>
          <a:prstGeom prst="roundRect">
            <a:avLst/>
          </a:prstGeom>
          <a:solidFill>
            <a:srgbClr val="FAEAD4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Data Processing
</a:t>
            </a:r>
            <a:r>
              <a:rPr sz="750" b="0">
                <a:solidFill>
                  <a:srgbClr val="1E293B"/>
                </a:solidFill>
                <a:latin typeface="Segoe UI"/>
              </a:rPr>
              <a:t>-Python 3.11
-FastAPI REST Backend
-NumPy / Pandas
-OpenCV Quality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834640"/>
            <a:ext cx="2377440" cy="658368"/>
          </a:xfrm>
          <a:prstGeom prst="roundRect">
            <a:avLst/>
          </a:prstGeom>
          <a:solidFill>
            <a:srgbClr val="FEEDD5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AI/ML Model
</a:t>
            </a:r>
            <a:r>
              <a:rPr sz="750" b="0">
                <a:solidFill>
                  <a:srgbClr val="1E293B"/>
                </a:solidFill>
                <a:latin typeface="Segoe UI"/>
              </a:rPr>
              <a:t>-Gemini 2.5 Flash (Vision)
-LightGBM Quantile Reg.
-OR-Tools (CVRPTW)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566160"/>
            <a:ext cx="2377440" cy="658368"/>
          </a:xfrm>
          <a:prstGeom prst="roundRect">
            <a:avLst/>
          </a:prstGeom>
          <a:solidFill>
            <a:srgbClr val="FAEAD4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Database
</a:t>
            </a:r>
            <a:r>
              <a:rPr sz="750" b="0">
                <a:solidFill>
                  <a:srgbClr val="1E293B"/>
                </a:solidFill>
                <a:latin typeface="Segoe UI"/>
              </a:rPr>
              <a:t>-SQLite Local Fallback
-PostgreSQL Target
-IndexedDB (Offline PWA)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297680"/>
            <a:ext cx="2377440" cy="658368"/>
          </a:xfrm>
          <a:prstGeom prst="roundRect">
            <a:avLst/>
          </a:prstGeom>
          <a:solidFill>
            <a:srgbClr val="FEEDD5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Maps &amp; Routing
</a:t>
            </a:r>
            <a:r>
              <a:rPr sz="750" b="0">
                <a:solidFill>
                  <a:srgbClr val="1E293B"/>
                </a:solidFill>
                <a:latin typeface="Segoe UI"/>
              </a:rPr>
              <a:t>-Leaflet.js + GeoJSON
-ESRI World Imagery
-Haversine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5029200"/>
            <a:ext cx="2377440" cy="658368"/>
          </a:xfrm>
          <a:prstGeom prst="roundRect">
            <a:avLst/>
          </a:prstGeom>
          <a:solidFill>
            <a:srgbClr val="FAEAD4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User Interface
</a:t>
            </a:r>
            <a:r>
              <a:rPr sz="750" b="0">
                <a:solidFill>
                  <a:srgbClr val="1E293B"/>
                </a:solidFill>
                <a:latin typeface="Segoe UI"/>
              </a:rPr>
              <a:t>-Next.js 16 (React 19)
-TypeScript + Tailwind CSS
-shadcn/ui + Recharts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760720"/>
            <a:ext cx="2377440" cy="658368"/>
          </a:xfrm>
          <a:prstGeom prst="roundRect">
            <a:avLst/>
          </a:prstGeom>
          <a:solidFill>
            <a:srgbClr val="FEEDD5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1">
                <a:solidFill>
                  <a:srgbClr val="0F172A"/>
                </a:solidFill>
                <a:latin typeface="Segoe UI"/>
              </a:rPr>
              <a:t>Deployment
</a:t>
            </a:r>
            <a:r>
              <a:rPr sz="750" b="0">
                <a:solidFill>
                  <a:srgbClr val="1E293B"/>
                </a:solidFill>
                <a:latin typeface="Segoe UI"/>
              </a:rPr>
              <a:t>-Docker Container
-Vercel Edge CDN
-SHA-256 Audit Trail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1188720"/>
            <a:ext cx="88696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ih_s3_workflow_17903154323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280160"/>
            <a:ext cx="8686800" cy="4846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196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0" y="6455664"/>
            <a:ext cx="6702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SMART INDIA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55664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0F306CB-610D-4173-824B-2AF26A0F81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20" y="13697"/>
            <a:ext cx="1033512" cy="9647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1_img3_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Georgia"/>
              </a:rPr>
              <a:t>FEASIBILITY AND VIABILITY</a:t>
            </a:r>
          </a:p>
        </p:txBody>
      </p:sp>
      <p:pic>
        <p:nvPicPr>
          <p:cNvPr id="6" name="Picture 5" descr="sih_s4_wheel_17903154642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120640" cy="5029200"/>
          </a:xfrm>
          <a:prstGeom prst="rect">
            <a:avLst/>
          </a:prstGeom>
        </p:spPr>
      </p:pic>
      <p:pic>
        <p:nvPicPr>
          <p:cNvPr id="7" name="Picture 6" descr="p6_img3_4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280160"/>
            <a:ext cx="73152" cy="4846320"/>
          </a:xfrm>
          <a:prstGeom prst="rect">
            <a:avLst/>
          </a:prstGeom>
        </p:spPr>
      </p:pic>
      <p:pic>
        <p:nvPicPr>
          <p:cNvPr id="8" name="Picture 7" descr="sih_s4_challenges_17903154912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188720"/>
            <a:ext cx="5577840" cy="5029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196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6455664"/>
            <a:ext cx="6702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SMART INDIA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55664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F84E58-7FF4-C3B2-817D-971423444D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425" y="58847"/>
            <a:ext cx="1210454" cy="11298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1_img3_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Georgia"/>
              </a:rPr>
              <a:t>BENEFIT AND IMPACT</a:t>
            </a:r>
          </a:p>
        </p:txBody>
      </p:sp>
      <p:pic>
        <p:nvPicPr>
          <p:cNvPr id="6" name="Picture 5" descr="sih_s5_benefit_impact_1790315520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11091672" cy="5120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196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0" y="6455664"/>
            <a:ext cx="6702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SMART INDIA HACKATHON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55664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99E0B7-4BAA-45A2-A4BB-EA44C7A50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64" y="101286"/>
            <a:ext cx="1196633" cy="11169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team_conqueror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592"/>
            <a:ext cx="868680" cy="868680"/>
          </a:xfrm>
          <a:prstGeom prst="rect">
            <a:avLst/>
          </a:prstGeom>
        </p:spPr>
      </p:pic>
      <p:pic>
        <p:nvPicPr>
          <p:cNvPr id="5" name="Picture 4" descr="p1_img3_7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82880"/>
            <a:ext cx="160020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51760" y="256032"/>
            <a:ext cx="7406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Georgia"/>
              </a:rPr>
              <a:t>RESEARCH AND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" y="1289304"/>
            <a:ext cx="5577840" cy="4506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National Agriculture Market (e-NAM) Portal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https://enam.gov.in/web/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Unified national electronic trading market connecting 1,361+ mandis.</a:t>
            </a:r>
          </a:p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Directorate of Marketing &amp; Inspection (AGMARKNET)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https://agmarknet.gov.in/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Official daily agricultural commodity prices and arrivals bulletins.</a:t>
            </a:r>
          </a:p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Bhashini: National Language Translation Mission (</a:t>
            </a:r>
            <a:r>
              <a:rPr sz="1100" b="1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MeitY</a:t>
            </a: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https://bhashini.gov.in/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Voice-first Indic AI speech models for regional rural accessibility.</a:t>
            </a:r>
          </a:p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Google OR-Tools: Capacitated Vehicle Routing Problem (CVRPTW)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https://developers.google.com/optimization/routing/cvrptw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Algorithmic formulation for multi-depot milk-run pickup &amp; route scheduling.</a:t>
            </a:r>
          </a:p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100" b="1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LightGBM</a:t>
            </a: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 Highly Efficient Gradient Boosting Decision Tree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https://lightgbm.readthedocs.io/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Fast quantile regression generating probabilistic P10 / P50 / P90 price ranges.</a:t>
            </a:r>
          </a:p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SHA-256 Cryptographic Standards (NIST FIPS 180-4)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9"/>
              </a:rPr>
              <a:t>https://csrc.nist.gov/publications/detail/fips/180-4/final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Tamper-evident audit trail logging every lot status and payment transition.</a:t>
            </a:r>
          </a:p>
          <a:p>
            <a:pPr algn="just">
              <a:spcBef>
                <a:spcPts val="300"/>
              </a:spcBef>
              <a:spcAft>
                <a:spcPts val="0"/>
              </a:spcAft>
            </a:pPr>
            <a:r>
              <a:rPr sz="11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Ministry of Agriculture &amp; Farmers Welfare Benchmarks (2024-26)</a:t>
            </a:r>
          </a:p>
          <a:p>
            <a:pPr algn="just">
              <a:spcBef>
                <a:spcPts val="0"/>
              </a:spcBef>
              <a:spcAft>
                <a:spcPts val="100"/>
              </a:spcAft>
            </a:pPr>
            <a:r>
              <a:rPr sz="1100" b="0" u="sng" dirty="0">
                <a:solidFill>
                  <a:srgbClr val="1D4ED8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10"/>
              </a:rPr>
              <a:t>https://agricoop.nic.in/</a:t>
            </a:r>
          </a:p>
          <a:p>
            <a:pPr algn="just">
              <a:spcBef>
                <a:spcPts val="0"/>
              </a:spcBef>
              <a:spcAft>
                <a:spcPts val="700"/>
              </a:spcAft>
            </a:pPr>
            <a:r>
              <a:rPr sz="11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Empirical data on post-harvest leakages, commissions, and FPO aggregation.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188720"/>
            <a:ext cx="19050" cy="5029200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12064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1188720"/>
            <a:ext cx="512064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34D399"/>
                </a:solidFill>
              </a:rPr>
              <a:t>  🌾 Farmer Dashboard: Real Take-Home Net &amp; Mandi Radius Map</a:t>
            </a:r>
          </a:p>
        </p:txBody>
      </p:sp>
      <p:pic>
        <p:nvPicPr>
          <p:cNvPr id="11" name="Picture 10" descr="dashboard_farmer_mand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5080" y="1559052"/>
            <a:ext cx="5029200" cy="20299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3794760"/>
            <a:ext cx="51206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3794760"/>
            <a:ext cx="5120640" cy="347472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A7F3D0"/>
                </a:solidFill>
              </a:rPr>
              <a:t>  ⚡ Multi-Role Enterprise Portal: Farmer • FPO Hub • Buyer • Admin</a:t>
            </a:r>
          </a:p>
        </p:txBody>
      </p:sp>
      <p:pic>
        <p:nvPicPr>
          <p:cNvPr id="14" name="Picture 13" descr="dashboard_login_role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60" y="4169663"/>
            <a:ext cx="3200400" cy="199339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475720" y="1371600"/>
            <a:ext cx="36576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
A
S
H
B
O
A
R
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196DB3"/>
          </a:solidFill>
          <a:ln>
            <a:solidFill>
              <a:srgbClr val="196D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0" y="6455664"/>
            <a:ext cx="67025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SMART INDIA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55664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574</Words>
  <Application>Microsoft Office PowerPoint</Application>
  <PresentationFormat>Widescreen</PresentationFormat>
  <Paragraphs>83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</vt:lpstr>
      <vt:lpstr>Garamond</vt:lpstr>
      <vt:lpstr>Georgia</vt:lpstr>
      <vt:lpstr>montserratregular</vt:lpstr>
      <vt:lpstr>Segoe UI</vt:lpstr>
      <vt:lpstr>Times New Roman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Aditya Pawar</cp:lastModifiedBy>
  <cp:revision>2</cp:revision>
  <dcterms:created xsi:type="dcterms:W3CDTF">2013-01-27T09:14:16Z</dcterms:created>
  <dcterms:modified xsi:type="dcterms:W3CDTF">2026-09-25T07:20:45Z</dcterms:modified>
  <cp:category/>
</cp:coreProperties>
</file>