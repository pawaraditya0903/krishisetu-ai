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1280160" cy="1280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103120" y="411480"/>
            <a:ext cx="685800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38BDF8"/>
                </a:solidFill>
              </a:rPr>
              <a:t>⚡ AXION HACKATHON 2026  •  ROUND 1 PPT SUBMISSION  •  TEAM CONQUERORS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82296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600">
                <a:solidFill>
                  <a:srgbClr val="0F172A"/>
                </a:solidFill>
                <a:latin typeface="Georgia"/>
              </a:rPr>
              <a:t>KRISHISETU AI (कृषीसेतू)</a:t>
            </a:r>
          </a:p>
          <a:p>
            <a:pPr>
              <a:spcBef>
                <a:spcPts val="400"/>
              </a:spcBef>
            </a:pPr>
            <a:r>
              <a:rPr b="1" sz="1550">
                <a:solidFill>
                  <a:srgbClr val="1D4ED8"/>
                </a:solidFill>
                <a:latin typeface="Segoe UI"/>
              </a:rPr>
              <a:t>AI-Driven True Net Realization, Farm-Gate Vision Grading &amp; Milk-Run FPO Logistics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48640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  🎯 PROJECT SCOPE &amp; SUBMISSION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Hackathon: </a:t>
            </a:r>
            <a:r>
              <a:rPr sz="1150">
                <a:solidFill>
                  <a:srgbClr val="475569"/>
                </a:solidFill>
              </a:rPr>
              <a:t>AXION HACKATHON 2026 (Selection Round 1)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Theme: </a:t>
            </a:r>
            <a:r>
              <a:rPr sz="1150">
                <a:solidFill>
                  <a:srgbClr val="475569"/>
                </a:solidFill>
              </a:rPr>
              <a:t>Smart Agriculture, FoodTech &amp; Rural Logistics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Problem Solved: </a:t>
            </a:r>
            <a:r>
              <a:rPr sz="1150">
                <a:solidFill>
                  <a:srgbClr val="475569"/>
                </a:solidFill>
              </a:rPr>
              <a:t>Eliminating 18%–35% Post-Harvest Farmer Value Leakage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Core Innovation: </a:t>
            </a:r>
            <a:r>
              <a:rPr sz="1150">
                <a:solidFill>
                  <a:srgbClr val="475569"/>
                </a:solidFill>
              </a:rPr>
              <a:t>OpenCV Quality Gate + OR-Tools CVRPTW + SHA-256 Ledger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Team Name: </a:t>
            </a:r>
            <a:r>
              <a:rPr sz="1150">
                <a:solidFill>
                  <a:srgbClr val="475569"/>
                </a:solidFill>
              </a:rPr>
              <a:t>Conquerors (Team Lead: Aditya Pawar)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b="1" sz="1200">
                <a:solidFill>
                  <a:srgbClr val="1D4ED8"/>
                </a:solidFill>
              </a:rPr>
              <a:t>•  </a:t>
            </a:r>
            <a:r>
              <a:rPr b="1" sz="1200">
                <a:solidFill>
                  <a:srgbClr val="0F172A"/>
                </a:solidFill>
              </a:rPr>
              <a:t>Production Status: </a:t>
            </a:r>
            <a:r>
              <a:rPr sz="1150">
                <a:solidFill>
                  <a:srgbClr val="475569"/>
                </a:solidFill>
              </a:rPr>
              <a:t>100% Deployed &amp; Production Tested (46 Routes, 36 Tests Passed)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212080" cy="4114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  ⚡ PROVABLE PROTOTYPE &amp; VERIFIED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43200"/>
            <a:ext cx="4846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059669"/>
                </a:solidFill>
              </a:rPr>
              <a:t>36 / 36 PASSED  —  </a:t>
            </a:r>
            <a:r>
              <a:rPr sz="1050">
                <a:solidFill>
                  <a:srgbClr val="0F172A"/>
                </a:solidFill>
              </a:rPr>
              <a:t>Domain Services Pytest Suite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566160"/>
            <a:ext cx="4846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D4ED8"/>
                </a:solidFill>
              </a:rPr>
              <a:t>53.7% - 69.8%  —  </a:t>
            </a:r>
            <a:r>
              <a:rPr sz="1050">
                <a:solidFill>
                  <a:srgbClr val="0F172A"/>
                </a:solidFill>
              </a:rPr>
              <a:t>Farmer Freight Savings via OR-Tools Pooling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389120"/>
            <a:ext cx="4846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EA580C"/>
                </a:solidFill>
              </a:rPr>
              <a:t>+22.5% LIFT  —  </a:t>
            </a:r>
            <a:r>
              <a:rPr sz="1050">
                <a:solidFill>
                  <a:srgbClr val="0F172A"/>
                </a:solidFill>
              </a:rPr>
              <a:t>Average Farmer Net Take-Home Realization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30352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🌐 Live Deployed Application: </a:t>
            </a:r>
            <a:r>
              <a:rPr b="1" sz="1100">
                <a:solidFill>
                  <a:srgbClr val="1D4ED8"/>
                </a:solidFill>
              </a:rPr>
              <a:t>krishisetu-ai-mu.vercel.app
</a:t>
            </a:r>
          </a:p>
          <a:p>
            <a:pPr algn="ctr"/>
            <a:r>
              <a:rPr b="1" sz="1100">
                <a:solidFill>
                  <a:srgbClr val="0F172A"/>
                </a:solidFill>
              </a:rPr>
              <a:t>💻 GitHub Repository: </a:t>
            </a:r>
            <a:r>
              <a:rPr b="1" sz="1100">
                <a:solidFill>
                  <a:srgbClr val="1D4ED8"/>
                </a:solidFill>
              </a:rPr>
              <a:t>github.com/pawaraditya0903/krishisetu-ai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PROBLEM RELEVANCE &amp; THE AGRARIAN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Why 14.5 Crore Indian Smallholders Suffer 18%–35% Post-Harvest Economic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2606040" cy="10515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DC2626"/>
                </a:solidFill>
              </a:rPr>
              <a:t>₹92,000 Cr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0F172A"/>
                </a:solidFill>
              </a:rPr>
              <a:t>Annual Post-Harvest Value Destruction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06040" cy="10515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EA580C"/>
                </a:solidFill>
              </a:rPr>
              <a:t>18% — 35%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0F172A"/>
                </a:solidFill>
              </a:rPr>
              <a:t>Net Value Loss on Horticultural Perishables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06040" cy="10515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0284C7"/>
                </a:solidFill>
              </a:rPr>
              <a:t>86% OF FARMERS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0F172A"/>
                </a:solidFill>
              </a:rPr>
              <a:t>Trapped in Smallholder Solo Transport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188720"/>
            <a:ext cx="2606040" cy="105156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2000">
                <a:solidFill>
                  <a:srgbClr val="7C3AED"/>
                </a:solidFill>
              </a:rPr>
              <a:t>ZERO TOOLS</a:t>
            </a:r>
          </a:p>
          <a:p>
            <a:pPr algn="ctr">
              <a:spcBef>
                <a:spcPts val="200"/>
              </a:spcBef>
            </a:pPr>
            <a:r>
              <a:rPr sz="950">
                <a:solidFill>
                  <a:srgbClr val="0F172A"/>
                </a:solidFill>
              </a:rPr>
              <a:t>Existing for True Net Take-Home Calculation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231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109728" cy="17830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146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1. Opaque Middleman Grading at Yard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475569"/>
                </a:solidFill>
              </a:rPr>
              <a:t>Commission agents perform subjective visual appraisals at mandi gates. Without scientific benchmark data, smallholders suffer arbitrary 15%–25% price deductions with zero dispute mechanism.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DC2626"/>
                </a:solidFill>
              </a:rPr>
              <a:t>⚠️ Impact: High-quality produce graded as Grade C without transparency.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4231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423160"/>
            <a:ext cx="109728" cy="17830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2. Deceptive Gross Price Illusions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475569"/>
                </a:solidFill>
              </a:rPr>
              <a:t>Farmers chase higher gross prices in distant APMCs (e.g. Pune vs Baramati), unaware that freight, handling labor, APMC cess, and 6% transit spoilage destroy their actual net margins.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A580C"/>
                </a:solidFill>
              </a:rPr>
              <a:t>⚠️ Impact: Farmers lose up to ₹4,000–₹6,000 per load chasing distant quotes.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4340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343400"/>
            <a:ext cx="109728" cy="17830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3. Solo Logistics &amp; Prohibitive Freight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475569"/>
                </a:solidFill>
              </a:rPr>
              <a:t>Smallholders commute individually in half-empty pickup tempos (Tata Ace) at ₹18–25/km. Lack of aggregation and vehicle routing leads to prohibitive transit costs and high deadhead miles.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284C7"/>
                </a:solidFill>
              </a:rPr>
              <a:t>⚠️ Impact: Freight absorbs up to 28% of total agricultural harvest revenue.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4340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343400"/>
            <a:ext cx="109728" cy="17830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4. Delayed Settlements &amp; Escrow Mistrust</a:t>
            </a:r>
          </a:p>
          <a:p>
            <a:pPr>
              <a:spcBef>
                <a:spcPts val="400"/>
              </a:spcBef>
            </a:pPr>
            <a:r>
              <a:rPr sz="980">
                <a:solidFill>
                  <a:srgbClr val="475569"/>
                </a:solidFill>
              </a:rPr>
              <a:t>Traders take 15–30 days to clear payments; paper weigh-slips get lost or manipulated. Farmers have zero institutional escrow protection and no tamper-evident audit record of their delivery.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7C3AED"/>
                </a:solidFill>
              </a:rPr>
              <a:t>⚠️ Impact: Cash flow distress forcing debt cycles and distress fire sales.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PROPOSED SOLUTION — THE KRISHISETU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A Decentralized 5-Pillar Operating System Connecting Farm Gates Directly to Fair Institutional Commerce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2084831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2084831" cy="384048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Pillar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9019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Quality-Gated Vision Grader
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475569"/>
                </a:solidFill>
              </a:rPr>
              <a:t>OpenCV Laplacian filter (&gt;95) &amp; exposure check rejecting uncalibrated photos before AI grading.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520440"/>
            <a:ext cx="1865376" cy="320040"/>
          </a:xfrm>
          <a:prstGeom prst="roundRect">
            <a:avLst/>
          </a:prstGeom>
          <a:solidFill>
            <a:srgbClr val="EEF2F6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284C7"/>
                </a:solidFill>
              </a:rPr>
              <a:t>⚙️ OpenCV + Gemini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188720"/>
            <a:ext cx="2084831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52928" y="1188720"/>
            <a:ext cx="2084831" cy="38404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Pillar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1627632"/>
            <a:ext cx="19019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True Net Realization Math
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475569"/>
                </a:solidFill>
              </a:rPr>
              <a:t>Mathematically calculates real take-home cash after freight, labor, APMC cess, and transit spoilage.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3520440"/>
            <a:ext cx="1865376" cy="320040"/>
          </a:xfrm>
          <a:prstGeom prst="roundRect">
            <a:avLst/>
          </a:prstGeom>
          <a:solidFill>
            <a:srgbClr val="EEF2F6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59669"/>
                </a:solidFill>
              </a:rPr>
              <a:t>⚙️ Net Calculator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1188720"/>
            <a:ext cx="2084831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1188720"/>
            <a:ext cx="2084831" cy="38404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Pillar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1627632"/>
            <a:ext cx="19019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OR-Tools Milk-Run Logistics
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475569"/>
                </a:solidFill>
              </a:rPr>
              <a:t>Google OR-Tools CVRPTW solver grouping multi-farmer loads into 2,500kg trucks, cutting costs by up to 69.8%.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3520440"/>
            <a:ext cx="1865376" cy="320040"/>
          </a:xfrm>
          <a:prstGeom prst="roundRect">
            <a:avLst/>
          </a:prstGeom>
          <a:solidFill>
            <a:srgbClr val="EEF2F6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EA580C"/>
                </a:solidFill>
              </a:rPr>
              <a:t>⚙️ CVRPTW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4" y="1188720"/>
            <a:ext cx="2084831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8624" y="1188720"/>
            <a:ext cx="2084831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Pillar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1627632"/>
            <a:ext cx="19019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Quantile Price Forecaster
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475569"/>
                </a:solidFill>
              </a:rPr>
              <a:t>LightGBM P10/P50/P90 probabilistic price range with 14-day advisor (Sell vs Store risk toggles).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88352" y="3520440"/>
            <a:ext cx="1865376" cy="320040"/>
          </a:xfrm>
          <a:prstGeom prst="roundRect">
            <a:avLst/>
          </a:prstGeom>
          <a:solidFill>
            <a:srgbClr val="EEF2F6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7C3AED"/>
                </a:solidFill>
              </a:rPr>
              <a:t>⚙️ LightGBM (5.09% WMAPE)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91472" y="1188720"/>
            <a:ext cx="2084831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1472" y="1188720"/>
            <a:ext cx="2084831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Pillar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1627632"/>
            <a:ext cx="190195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100">
                <a:solidFill>
                  <a:srgbClr val="0F172A"/>
                </a:solidFill>
              </a:rPr>
              <a:t>SHA-256 Merkle Ledger
</a:t>
            </a:r>
          </a:p>
          <a:p>
            <a:pPr>
              <a:spcBef>
                <a:spcPts val="400"/>
              </a:spcBef>
            </a:pPr>
            <a:r>
              <a:rPr sz="880">
                <a:solidFill>
                  <a:srgbClr val="475569"/>
                </a:solidFill>
              </a:rPr>
              <a:t>Cryptographically signed lot manifest &amp; RBI Nodal Escrow simulation ensuring zero-dispute settlements.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520440"/>
            <a:ext cx="1865376" cy="320040"/>
          </a:xfrm>
          <a:prstGeom prst="roundRect">
            <a:avLst/>
          </a:prstGeom>
          <a:solidFill>
            <a:srgbClr val="EEF2F6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F172A"/>
                </a:solidFill>
              </a:rPr>
              <a:t>⚙️ Tamper-Evident Ledger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114800"/>
            <a:ext cx="1092708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14800"/>
            <a:ext cx="10927080" cy="34747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FFFFF"/>
                </a:solidFill>
              </a:rPr>
              <a:t>🎯 4-ROLE STAKEHOLDER COLLABORATION ECOSYSTEM (ZERO ARBITRAGE)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57200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59669"/>
                </a:solidFill>
              </a:rPr>
              <a:t>🌾 Farmer Persona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Captures 3-photo harvest scan, receives certified Grade A QR manifest, verifies net take-home math, and joins local FPO pool.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457200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1D4ED8"/>
                </a:solidFill>
              </a:rPr>
              <a:t>🏭 FPO Manager Hub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Performs physical weigh-slip verification, consolidates 50+ farmer loads, triggers OR-Tools milk-run dispatch, and manages B2B buyers.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7336" y="457200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EA580C"/>
                </a:solidFill>
              </a:rPr>
              <a:t>🏢 Wholesale Buyer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Inspects verified digital pool lots, deposits purchase guarantee in RBI nodal escrow, scans QR gate-pass, and accepts delivery.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87384" y="4572000"/>
            <a:ext cx="2560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7C3AED"/>
                </a:solidFill>
              </a:rPr>
              <a:t>🛡️ Admin / Regulator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475569"/>
                </a:solidFill>
              </a:rPr>
              <a:t>Monitors LightGBM model drift, inspects real-time SHA-256 Merkle audit chains, and settles SLA dispute arbitrations.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METHODOLOGY — END-TO-END SYSTEM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Autonomous 6-Stage Process Flowchart: From Farm-Gate Capture to Cryptographic Settlement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3154680" cy="22402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315468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1: FARM-GATE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91056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1D4ED8"/>
                </a:solidFill>
              </a:rPr>
              <a:t>Subsystem: Edge Ingestion &amp; Offline Queue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3-perspective photos of produce crates captured via Next.js PWA.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Geolocation GPS tagging (Lat/Lng) &amp; harvest lot size metadata.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Browser IndexedDB queue buffers transactions in zero-network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154680" cy="224028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154680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2: OPENCV QUALITY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91056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7C3AED"/>
                </a:solidFill>
              </a:rPr>
              <a:t>Subsystem: Pre-Inference Validation Gate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Laplacian Blur: Var(∇² I) ≥ 95 (Rejects blurry camera shakes).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Exposure Check: 80 ≤ Mean(Y) ≤ 200 lux (Detects glare &amp; shadows).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Occupancy Check: Produce contour area / frame area ≥ 55%.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Decision: ❌ Fails: Voice retake alert  |  ✅ Passes: Stream to 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188720"/>
            <a:ext cx="3154680" cy="22402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188720"/>
            <a:ext cx="3154680" cy="38404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3: AI GRADING &amp; NET MATH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1591056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59669"/>
                </a:solidFill>
              </a:rPr>
              <a:t>Subsystem: Computer Vision &amp; Price Optimization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Computer Vision Grader assigns certified Grade A/B/C + QR code.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True Net Math: R_net = P_gross - (Freight + Labor + Cess + Spoilage).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14-Day LightGBM Quantile: P10/P50/P90 Sell/Wait/Store advisory.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Generates cryptographically signed harvest lot manifest.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840480" y="2121408"/>
            <a:ext cx="457200" cy="347472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09560" y="2121408"/>
            <a:ext cx="457200" cy="347472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9784080" y="3520440"/>
            <a:ext cx="411480" cy="438912"/>
          </a:xfrm>
          <a:prstGeom prst="downArrow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4041648"/>
            <a:ext cx="3154680" cy="2240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4041648"/>
            <a:ext cx="3154680" cy="38404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4: CVRPTW FLEET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443984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EA580C"/>
                </a:solidFill>
              </a:rPr>
              <a:t>Subsystem: Google OR-Tools Milk-Run Optimization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Aggregates fragmented 50+ farmer consignments into FPO pool.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Capacity Constraint: Q ≤ 2,500 kg (Standard Tata 407 payload).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Haversine distance matrix schedules multi-stop farm pickup.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Replaces 5 individual tempos with 1 truck (-53.7% to -69.8% cost).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041648"/>
            <a:ext cx="315468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041648"/>
            <a:ext cx="315468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5: FPO PHYSICAL 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4443984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F172A"/>
                </a:solidFill>
              </a:rPr>
              <a:t>Subsystem: Dual-Grade Anti-Fraud Enforcement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Consolidated truck delivers produce to FPO Collection Center.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Calibrated weigh-bridge gross/tare weigh-in verification.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Randomized crate sampling cross-checks bottom vs top produce.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Commercial grade locked; discrepancy mandates photo evidence.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41648"/>
            <a:ext cx="3154680" cy="22402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041648"/>
            <a:ext cx="3154680" cy="384048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STAGE 6: MERKLE ESCROW SETTLEMENT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443984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284C7"/>
                </a:solidFill>
              </a:rPr>
              <a:t>Subsystem: Cryptographic Provenance &amp; Payout
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Institutional buyer locks purchase funds into scheduled RBI escrow.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QR gate-pass scanned at buyer receiving dock upon delivery.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Instant Automated UPI Split: 80% direct to farmer, 20% FPO/logistics.</a:t>
            </a:r>
          </a:p>
          <a:p>
            <a:pPr>
              <a:spcBef>
                <a:spcPts val="200"/>
              </a:spcBef>
            </a:pPr>
            <a:r>
              <a:rPr sz="819">
                <a:solidFill>
                  <a:srgbClr val="0F172A"/>
                </a:solidFill>
              </a:rPr>
              <a:t>• SHA-256 Merkle Ledger: Event hash permanently chained to audit block.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909560" y="4983480"/>
            <a:ext cx="457200" cy="347472"/>
          </a:xfrm>
          <a:prstGeom prst="leftArrow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3840480" y="4983480"/>
            <a:ext cx="457200" cy="347472"/>
          </a:xfrm>
          <a:prstGeom prst="lef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TECHNICAL STACK &amp; MULTI-TIER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Modern, Open-Source, Edge-to-Cloud Technology Stack Optimized for Low-Latency Rural Computing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03520" cy="23317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LAYER 1: CLIENT APPLICATION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50840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0284C7"/>
                </a:solidFill>
              </a:rPr>
              <a:t>Subsystem: Edge-Rendered PWA &amp; Regional Voice Accessibility
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Next.js 16 (React 19) + Tailwind CSS v4 + Lucide Icons + Shadcn UI primitives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Trilingual i18n localization: English, मराठी (Marathi), and हिंदी (Hindi)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Bhashini Indic Voice Assistant Modal (Speech-to-Text &amp; Text-to-Speech via Web Speech API)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Browser IndexedDB Offline Queue (offline-queue.ts) for full 2G offline resilience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Leaflet.js with ESRI Satellite Tiles &amp; dynamic nationwide geolocation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03520" cy="23317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303520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LAYER 2: API GATEWAY &amp; SECURITY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627632"/>
            <a:ext cx="50840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0F172A"/>
                </a:solidFill>
              </a:rPr>
              <a:t>Subsystem: High-Performance REST &amp; Cryptographic Guardrails
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FastAPI (Python 3.11) with asynchronous Pydantic v2 data validation schemas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JWT Role-Based Access Control (RBAC) isolating Farmer, FPO, Buyer, and Admin roles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Hardened Security Posture: Content Security Policy (CSP), strict CORS &amp; zero client API keys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Modular REST API routers (/farmer, /fpo, /buyer, /audit, /logistics/ondc/search)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Automated Pytest Suite: 36/36 unit and domain integration test cases passing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23317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LAYER 3: AI &amp; OPTIMIZATION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79392"/>
            <a:ext cx="50840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059669"/>
                </a:solidFill>
              </a:rPr>
              <a:t>Subsystem: Algorithmic Core &amp; Machine Intelligence
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OpenCV Quality Gate: Laplacian blur filter (&gt;95), Exposure bounds (80-200 lux), Frame occupancy (&gt;55%)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Gemini 2.5 Flash / Scikit-Learn Random Forest: Ripeness, size uniformity, and surface defect classification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Google OR-Tools CVRPTW Solver: Mathematical vehicle route &amp; truck capacity optimization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LightGBM Multi-Quantile Regressor: P10/P50/P90 probabilistic price forecasts (WMAPE 5.09%)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Haversine Distance &amp; Transit Duration Engine: Road matrix calculation across 10-1000 km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03520" cy="2331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LAYER 4: PERSISTENCE &amp; TRUST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279392"/>
            <a:ext cx="508406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19">
                <a:solidFill>
                  <a:srgbClr val="EA580C"/>
                </a:solidFill>
              </a:rPr>
              <a:t>Subsystem: Fault-Tolerant Databases &amp; Merkle Ledger
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Embedded SQLite WAL Database (krishisetu_local.db): Zero external dependency auto-fallback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PostgreSQL 16 + PostGIS: Enterprise spatial production target for coordinate radius queries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Tamper-Evident SHA-256 Ledger: Append-only Merkle event hash logging with /audit/verify endpoint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Regulated Nodal Escrow Rail: Milestone-based payout simulation modeled on RBI nodal accounts</a:t>
            </a:r>
          </a:p>
          <a:p>
            <a:pPr>
              <a:spcBef>
                <a:spcPts val="150"/>
              </a:spcBef>
            </a:pPr>
            <a:r>
              <a:rPr sz="850">
                <a:solidFill>
                  <a:srgbClr val="0F172A"/>
                </a:solidFill>
              </a:rPr>
              <a:t>• QR Gate-Pass Code Generator: Encrypted manifest payload with tamper-evident lot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IMPLEMENTATION APPROACH — CORE ALGORITHMIC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Mathematical Rigor and Scientific Formulas Powering Every Autonomous Decision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1. OpenCV Pre-Inference Quality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284C7"/>
                </a:solidFill>
              </a:rPr>
              <a:t>Prevents GIGO &amp; Hallucinations
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0F172A"/>
                </a:solidFill>
              </a:rPr>
              <a:t>• Laplacian Blur Variance: Var(∇² I) ≥ 95 (Rejects blurry photos)
• Luminance Bound: 80 ≤ Mean(Y) ≤ 200 lux (Detects glare &amp; shadows)
• Frame Occupancy: Area(Contour) / Area(Frame) ≥ 55%
• Illumination Correction: CLAHE (Contrast Limited Adaptive Histogram Equalization)
• Outcome: Only verified photos pass to AI grader; rejects bad images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303520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2. True Net Realization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59669"/>
                </a:solidFill>
              </a:rPr>
              <a:t>Eliminates Mandi Gross Price Deception
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0F172A"/>
                </a:solidFill>
              </a:rPr>
              <a:t>Net Take-Home = Gross Quote - [Freight + Labor + Packing + APMC Cess + Spoilage]
• Real Case Study: Baramati vs Pune Gultekdi (50 Quintals Tomato)
  - Baramati Gross: ₹1,850/qtl | Solo Net: ₹1,745/qtl | Pooled Net: ₹1,820/qtl
  - Pune Gross: ₹2,150/qtl | Solo Net: ₹1,745/qtl | Pooled Net: ₹1,885/qtl
• Discovery: Distant mandis are only profitable when pooled (+₹5,678 net gain)!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3. Google OR-Tools CVRPTW 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EA580C"/>
                </a:solidFill>
              </a:rPr>
              <a:t>Milk-Run Route &amp; Payload Optimization
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0F172A"/>
                </a:solidFill>
              </a:rPr>
              <a:t>Objective: min ∑ C_ij * X_ij subject to Vehicle Capacity &amp; Time Windows:
• Vehicle Capacity: Q ≤ 2,500 kg (Standard Tata 407 payload limit)
• Time Window Constraints: Arrival_i ∈ [Early_Pickup, Late_Pickup]
• Haversine Distance Matrix calculates optimal farm-gate pickup sequence
• Impact: Replaces 5 individual tempos with 1 truck at 88.6% utilization (-53.7% cost).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4. LightGBM Quantile Forecaster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7C3AED"/>
                </a:solidFill>
              </a:rPr>
              <a:t>14-Day Probabilistic Price Guidance
</a:t>
            </a:r>
          </a:p>
          <a:p>
            <a:pPr>
              <a:spcBef>
                <a:spcPts val="300"/>
              </a:spcBef>
            </a:pPr>
            <a:r>
              <a:rPr sz="860">
                <a:solidFill>
                  <a:srgbClr val="0F172A"/>
                </a:solidFill>
              </a:rPr>
              <a:t>Quantile Loss: L_q(y, ŷ) = max(q(y - ŷ), (1-q)(ŷ - y)) for q ∈ {0.1, 0.5, 0.9}:
• Generates 14-day P10 (Pessimistic), P50 (Median), and P90 (Optimistic) bands
• Model Performance: 5.09% WMAPE on 3-year daily AGMARKNET arrival series
• Risk-Aware Advisory: 'Conservative' recommends Sell Now to avoid rain;
  'Balanced' recommends Wait 3 Days for +₹110/qtl expected price surge.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DUAL-GRADE GOVERNANCE &amp; TRUST SETTLEMENT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Solving the Ultimate Agri Challenge: Fraud Prevention, Physical Quality Locks &amp; Escrow 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2084831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8176" y="1298448"/>
            <a:ext cx="548640" cy="548640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74519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50">
                <a:solidFill>
                  <a:srgbClr val="0F172A"/>
                </a:solidFill>
              </a:rPr>
              <a:t>Farm-Gate Scan
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475569"/>
                </a:solidFill>
              </a:rPr>
              <a:t>Farmer snaps 3 photos. OpenCV Gate verifies clarity. AI outputs pre-dispatch Grade 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2928" y="1188720"/>
            <a:ext cx="2084831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1298448"/>
            <a:ext cx="548640" cy="54864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74519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50">
                <a:solidFill>
                  <a:srgbClr val="0F172A"/>
                </a:solidFill>
              </a:rPr>
              <a:t>FPO Physical Verification
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475569"/>
                </a:solidFill>
              </a:rPr>
              <a:t>Produce reaches FPO Hub. Calibrated scale weigh-in. Moisture &amp; defect cross-check.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1188720"/>
            <a:ext cx="2084831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33872" y="1298448"/>
            <a:ext cx="548640" cy="548640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874519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50">
                <a:solidFill>
                  <a:srgbClr val="0F172A"/>
                </a:solidFill>
              </a:rPr>
              <a:t>Buyer Nodal Escrow Hold
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475569"/>
                </a:solidFill>
              </a:rPr>
              <a:t>B2B Buyer locks funds into RBI-compliant scheduled bank nodal escrow 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78624" y="1188720"/>
            <a:ext cx="2084831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0" y="1298448"/>
            <a:ext cx="548640" cy="548640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1874519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50">
                <a:solidFill>
                  <a:srgbClr val="0F172A"/>
                </a:solidFill>
              </a:rPr>
              <a:t>QR Gate-Pass Dispatch
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475569"/>
                </a:solidFill>
              </a:rPr>
              <a:t>System generates tamper-evident QR manifest with lot hash, weight, and GPS origin.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1188720"/>
            <a:ext cx="2084831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59568" y="1298448"/>
            <a:ext cx="548640" cy="548640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874519"/>
            <a:ext cx="19385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50">
                <a:solidFill>
                  <a:srgbClr val="0F172A"/>
                </a:solidFill>
              </a:rPr>
              <a:t>Dock Scan &amp; UPI Split
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475569"/>
                </a:solidFill>
              </a:rPr>
              <a:t>Buyer scans QR at receiving dock. Funds instantly split: 80% farmer, 20% clearance + FPO logistics.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566160"/>
            <a:ext cx="5303520" cy="2560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566160"/>
            <a:ext cx="530352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🛡️ DUAL-GRADE ANTI-FRAUD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05072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• The Crate-Bottom Fraud Dilemma: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475569"/>
                </a:solidFill>
              </a:rPr>
              <a:t>What prevents a farmer from photographing good tomatoes on top while filling the bottom with rotten ones?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1D4ED8"/>
                </a:solidFill>
              </a:rPr>
              <a:t>• Our Dual-Grade Solution: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0F172A"/>
                </a:solidFill>
              </a:rPr>
              <a:t>The mobile scan is ONLY a pre-dispatch estimate to unlock logistics pooling. The official commercial grade is locked ONLY at the FPO Hub via physical weigh-bridge and randomized crate sampling.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EA580C"/>
                </a:solidFill>
              </a:rPr>
              <a:t>• Discrepancy Protocol: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475569"/>
                </a:solidFill>
              </a:rPr>
              <a:t>If FPO overrides Grade A to B/C, photo evidence is mandated and logged into the lot's permanent digital manifest.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66160"/>
            <a:ext cx="5303520" cy="2560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566160"/>
            <a:ext cx="5303520" cy="38404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🔒 TAMPER-EVIDENT SHA-256 MERKLE LEDGER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05072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b="1" sz="950">
                <a:solidFill>
                  <a:srgbClr val="0F172A"/>
                </a:solidFill>
              </a:rPr>
              <a:t>• Immutable Audit Trail: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475569"/>
                </a:solidFill>
              </a:rPr>
              <a:t>Every lot status transition (Scan → Pool → Dispatched → Received → Paid) is hashed with SHA-256 and chained to previous event blocks.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59669"/>
                </a:solidFill>
              </a:rPr>
              <a:t>• Live Verification Endpoint: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0F172A"/>
                </a:solidFill>
              </a:rPr>
              <a:t>GET /api/v1/audit/verify recomputes Merkle hashes on the fly and returns status: VALID or TAMPER_DETECTED.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1D4ED8"/>
                </a:solidFill>
              </a:rPr>
              <a:t>• RBI Nodal Escrow Compliance:</a:t>
            </a:r>
          </a:p>
          <a:p>
            <a:pPr>
              <a:spcBef>
                <a:spcPts val="200"/>
              </a:spcBef>
            </a:pPr>
            <a:r>
              <a:rPr b="0" sz="880">
                <a:solidFill>
                  <a:srgbClr val="475569"/>
                </a:solidFill>
              </a:rPr>
              <a:t>KrishiSetu never holds public funds. Funds sit in statutory scheduled bank nodal accounts (e.g. YES Bank rails), releasing upon QR gate-pass scan.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REAL-WORLD APPLICATIONS &amp; FIELD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Transforming Daily Operations Across the 4 Fundamental Pillars of the Agricultural Economy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03520" cy="23317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1. Smallholder &amp; Progressive Farmers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059669"/>
                </a:solidFill>
              </a:rPr>
              <a:t>Target: 140M+ Indian Farmers Across Horticultural Belts
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Eliminating Yard Deception: Instant smartphone camera crop scan yields certified AGMARK Grade A/B/C manifest before leaving the farm gate.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True Net Mandi Discovery: Compares real take-home earnings across all mandis within 10–1000 km, saving ₹4,000–₹6,000 per load.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14-Day Sell vs Store Advisor: Risk-tailored LightGBM forecasts prevent desperation distress sales during temporary mandi gluts.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Voice &amp; 2G Accessibility: Hands-free Bhashini Indic speech (मराठी/हिंदी) and IndexedDB offline queue empower non-literate smallholders.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03520" cy="23317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303520" cy="41148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2. Farmer Producer Organizations (FPOs)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1D4ED8"/>
                </a:solidFill>
              </a:rPr>
              <a:t>Target: 7,600+ Registered FPOs &amp; Agri-Cooperatives
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Consignment Aggregation: Aggregates fragmented 50+ member lots into 2,500kg consolidated commercial pools.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Google OR-Tools Milk-Run Fleet Routing: Automated vehicle routing replaces costly solo tempos with 1 truck (-53.7% to -69.8% freight).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Calibrated Weigh-Bridge Verification: Physical scale weigh-in and crate sampling eliminate crate-bottom fraud dispute risks.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Institutional B2B Contracting: Direct contract matching with modern supermarket chains without commission agent cuts.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2331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3. Institutional B2B Buyers &amp; Agri-Retailers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EA580C"/>
                </a:solidFill>
              </a:rPr>
              <a:t>Target: Supermarket Chains, Food Processors &amp; Exporters
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Verified Digital Procurement: Inspect digital pool lots with high-res photos, size uniformity, and ripeness indices before dispatch.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Scheduled RBI Nodal Escrow Hold: 100% purchase guarantee held in statutory bank escrow—funds release only on physical delivery.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QR Gate-Pass Dock Receiving: Warehouse staff scans crate QR manifest for instant computerized lot check-in and weight reconciliation.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Lead Time Reduction: Shrinks traditional 14-day procurement settlement cycles down to 24 hours via automated UPI bank split.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03520" cy="233172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4. APMC Regulators &amp; Ministry of Agriculture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7C3AED"/>
                </a:solidFill>
              </a:rPr>
              <a:t>Target: State Agricultural Marketing Boards (MSAMB, e-NAM)
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Real-Time Market Surveillance: Live telemetry monitors mandi price anomalies, preventing localized price crashes.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Immutable SHA-256 Merkle Audit Trail: Zero-dispute provenance enables state regulators to audit transactions and verify compliance.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Automated APMC Cess Reconciliation: Eliminates cash tax evasion and transparently calculates regulated market committee fees.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0F172A"/>
                </a:solidFill>
              </a:rPr>
              <a:t>• National Price Intelligence: Bidirectional API connectivity with AGMARKNET provides standardized national wholesale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FEASIBILITY, VALIDATION &amp; FIELD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Beyond Concept: An Offline-First, Formally Verified Platform Engineered for Rural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1. Automated Testing &amp;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59669"/>
                </a:solidFill>
              </a:rPr>
              <a:t>Key Innovation: Formal Software Engineering Rigor
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0F172A"/>
                </a:solidFill>
              </a:rPr>
              <a:t>• 36 / 36 Pytest domain services passed (100% pass rate across pricing, routing, and vision services)
• 16 / 16 Platform admin and multi-role access tests verified
• 49 / 49 Next.js 16 production routes compiled cleanly
• Zero external dependencies required: embedded SQLite WAL engine allows instant local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303520" cy="41148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2. Rural Offline-First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284C7"/>
                </a:solidFill>
              </a:rPr>
              <a:t>Key Innovation: Designed for Zero / 2G Cellular Fields
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0F172A"/>
                </a:solidFill>
              </a:rPr>
              <a:t>• Browser IndexedDB queue (offline-queue.ts) captures crop scans, calculations, and pool requests offline
• Automatic background replay service syncs queued mutations as soon as cellular data reconnects
• Edge caching allows farmers to view mandi price bulletins even in zero-network fields.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5303520" cy="411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3. Linguistic &amp; Voice 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7C3AED"/>
                </a:solidFill>
              </a:rPr>
              <a:t>Key Innovation: Empowering Non-Literate Smallholders
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0F172A"/>
                </a:solidFill>
              </a:rPr>
              <a:t>• Bhashini Indic Voice Assistant integrated natively in Marathi (मराठी), Hindi (हिंदी), and English
• Farmers can ask 'पुणे मार्केटमध्ये टोमॅटोचा भाव काय आहे?' by voice and receive spoken net calculations
• Eliminates digital literacy barriers through voice-first UI and visual icon cards.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30352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4. Zero-Cost Infrastructure 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EA580C"/>
                </a:solidFill>
              </a:rPr>
              <a:t>Key Innovation: Highly Economical Deployment Model
</a:t>
            </a:r>
          </a:p>
          <a:p>
            <a:pPr>
              <a:spcBef>
                <a:spcPts val="300"/>
              </a:spcBef>
            </a:pPr>
            <a:r>
              <a:rPr sz="880">
                <a:solidFill>
                  <a:srgbClr val="0F172A"/>
                </a:solidFill>
              </a:rPr>
              <a:t>• Uses open-source algorithms (Google OR-Tools, OpenCV, LightGBM, Leaflet GeoJSON)
• No expensive proprietary per-query API bills for routing or optimization
• Containerized with Docker and deployable on any commodity cloud or state APMC server.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EXPECTED IMPACT &amp; SOCIO-ECONOMIC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Quantified Transformation in Farmer Incomes, Logistics Efficiency, and Supply Chain Transparency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26060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059669"/>
                </a:solidFill>
              </a:rPr>
              <a:t>+18% to +22.5%
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F172A"/>
                </a:solidFill>
              </a:rPr>
              <a:t>Net Income Increase
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</a:rPr>
              <a:t>Higher farmer take-home pay by eliminating hidden deductions and picking true optimal mandis.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060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1D4ED8"/>
                </a:solidFill>
              </a:rPr>
              <a:t>53.7% - 69.8%
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F172A"/>
                </a:solidFill>
              </a:rPr>
              <a:t>Freight Cost Savings
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</a:rPr>
              <a:t>Slashing transport fees through Google OR-Tools milk-run aggregation in FPO pools.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6060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EA580C"/>
                </a:solidFill>
              </a:rPr>
              <a:t>30% REDUCTION
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F172A"/>
                </a:solidFill>
              </a:rPr>
              <a:t>Distress Sales &amp; Spoilage
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</a:rPr>
              <a:t>Pre-dispatch grading and 14-day advisor prevent desperate fire sales during glut.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188720"/>
            <a:ext cx="26060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600">
                <a:solidFill>
                  <a:srgbClr val="7C3AED"/>
                </a:solidFill>
              </a:rPr>
              <a:t>100% AUDITABLE
</a:t>
            </a:r>
          </a:p>
          <a:p>
            <a:pPr algn="ctr">
              <a:spcBef>
                <a:spcPts val="200"/>
              </a:spcBef>
            </a:pPr>
            <a:r>
              <a:rPr b="1" sz="1000">
                <a:solidFill>
                  <a:srgbClr val="0F172A"/>
                </a:solidFill>
              </a:rPr>
              <a:t>Dispute Elimination
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75569"/>
                </a:solidFill>
              </a:rPr>
              <a:t>Zero weigh-scale or payment disputes via dual-grade QR manifest and SHA-256 Merkle 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83280"/>
            <a:ext cx="1092708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092708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🌍 NATIONAL REACH &amp; UN SUSTAINABLE DEVELOPMENT GOALS (SDG) ALIGNMENT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📊 Target Scale in India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14.5 Crore small &amp; marginal farmers in India
• 7,600+ registered FPOs actively aggregating produce
• 1,361+ e-NAM Mandis eligible for last-mile integration
• ₹1.5 Lakh Crore total annual perishables trade addressable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🎯 UN SDG 1 &amp; 2: Poverty &amp; Hunger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SDG 1 (No Poverty): Directly raises smallholder net farm earnings by +22.5%, lifting farm families above subsistence.
• SDG 2 (Zero Hunger): Slashes post-harvest perishability food waste by 30% through rapid CVRPTW dispatch.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931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1D4ED8"/>
                </a:solidFill>
              </a:rPr>
              <a:t>📈 UN SDG 8, 9 &amp; 12: Inclusive Growth
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SDG 8 (Decent Work &amp; Economic Growth): Equal bargaining power for smallholders.
• SDG 9 (Industry &amp; Innovation): Open-source routing &amp; computer vision infrastructure.
• SDG 12 (Responsible Consumption): Transparent, verifiable food supply chains.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COMPETITIVE ADVANTAGE &amp; INDUSTRY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Why KrishiSetu AI Outperforms Existing Mandi Portals, Traditional Middlemen, and Private Agritech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188720"/>
          <a:ext cx="109270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103120"/>
                <a:gridCol w="2103120"/>
                <a:gridCol w="2240280"/>
              </a:tblGrid>
              <a:tr h="69886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Core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Traditional Mandi Traders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e-NAM Portal (Govt.)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DeHaat / Private Apps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</a:rPr>
                        <a:t>KrishiSetu AI (Ours)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True Net Realization Math
(Deducting freight, cess &amp; spoilage)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Arbitrary hidden deductions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Displays gross prices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Proprietary internal margins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Transparent itemized formula down to the single rupee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Farm-Gate Quality Grading
(Computer vision assessment)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Subjective eyeball grading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Requires physical APMC assaying lab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Centralized grading warehouse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Farm-gate OpenCV Quality Gate + Multi-parameter vision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Milk-Run Logistics Pooling
(Vehicle capacity &amp; time windows)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Expensive solo pickup tempo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No logistics scheduling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Private fleet logistics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Google OR-Tools CVRPTW multi-farmer aggregation (-53.7%)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Regional Voice Accessibility
(Hands-free Indic speech)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Oral negotiation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Complex text menus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Limited static audio clips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Native Bhashini Voice Assistant (मराठी, हिंदी, English)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Offline 2G Field Resilience
(Zero-connectivity support)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Portal fails without fast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Cloud-only connectivity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Browser IndexedDB offline mutation queue with auto-sync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</a:rPr>
                        <a:t>Tamper-Evident Merkle Escrow
(Anti-fraud provenance &amp; audit)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❌ Verbal delayed credit (15-30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Slow traditional bank clearance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475569"/>
                          </a:solidFill>
                        </a:rPr>
                        <a:t>⚠️ Closed centralized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59669"/>
                          </a:solidFill>
                        </a:rPr>
                        <a:t>✅ SHA-256 Merkle Ledger + RBI Nodal Escrow simulation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FUTURE SCOPES &amp; PAN-INDIA SCALABILITY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Strategic Horizon: From the 24-Hour Hackathon Sprint to a Nationwide Agri-Operating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35204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3520440" cy="5303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</a:rPr>
              <a:t>PHASE 1: 24-HOUR HACKATHON SPRINT
</a:t>
            </a:r>
          </a:p>
          <a:p>
            <a:pPr algn="ctr"/>
            <a:r>
              <a:rPr sz="800">
                <a:solidFill>
                  <a:srgbClr val="E2E8F0"/>
                </a:solidFill>
              </a:rPr>
              <a:t>Immediate Execution Plan for Next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⚡ Live ONDC Beckn v1.2.0 Integration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Integrate open carrier protocol (/logistics/ondc/search) to discover 3rd-party logistics carriers automatically.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📱 Gupshup / WhatsApp Conversational Bot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Enable farmers to send crop photos and receive grade certificates directly over WhatsApp without installing an app.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🍅 Multi-Crop Vision Expansion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Extend OpenCV quality gate and grading models to Onion (कांदा) and Potato (बटाटा) harvests.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🗺️ Real-Time GPS Milk-Run Tracking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Live driver turn-by-turn navigation overlay on Leaflet maps with dynamic waypoint re-routing.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88720"/>
            <a:ext cx="35204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520440" cy="5303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</a:rPr>
              <a:t>PHASE 2: NEAR-TERM HORIZON (3–6 MONTHS)
</a:t>
            </a:r>
          </a:p>
          <a:p>
            <a:pPr algn="ctr"/>
            <a:r>
              <a:rPr sz="800">
                <a:solidFill>
                  <a:srgbClr val="E2E8F0"/>
                </a:solidFill>
              </a:rPr>
              <a:t>Edge Computing &amp; Physical Supply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783080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🧠 Quantized Edge AI Deployment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Port vision models to INT8 quantized TensorFlow Lite &amp; YOLO-Nano for 0ms on-device inference with zero cloud cost.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📡 BLE Cold-Chain Sensor Telemetry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Embed low-cost BLE sensors in pooled crates to track real-time temperature, humidity, and shock vibrations in transit.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📊 FPO ERP Interoperability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Direct API connectors to Tally and state cooperative software for automated GST and accounting slips.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🚨 Mandi Arrival Anomaly Detection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Auto-alert farmers when sudden gluts occur in neighboring APMCs to avoid localized price crashes.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188720"/>
            <a:ext cx="35204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188720"/>
            <a:ext cx="3520440" cy="5303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FFFFFF"/>
                </a:solidFill>
              </a:rPr>
              <a:t>PHASE 3: LONG-TERM HORIZON (12 MONTHS)
</a:t>
            </a:r>
          </a:p>
          <a:p>
            <a:pPr algn="ctr"/>
            <a:r>
              <a:rPr sz="800">
                <a:solidFill>
                  <a:srgbClr val="E2E8F0"/>
                </a:solidFill>
              </a:rPr>
              <a:t>Institutional Credit &amp; Pan-India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7" y="1783080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💳 Micro-Warehouse Receipt Financing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Tokenize certified QR manifests as electronic warehouse receipts (e-NWR) for instant collateral loans via NBFCs / KCC.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🌐 Pan-India FPO Federation Network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Enable inter-state cooperative trade (e.g. Maharashtra tomatoes routed directly to North Indian consumption hubs).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📜 Smart Legal Contracts on Hyperledger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Transition SHA-256 audit logs to consortium blockchain for institutional B2B contract enforcement.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🏛️ Ministry of Agriculture Integration
</a:t>
            </a:r>
          </a:p>
          <a:p>
            <a:pPr>
              <a:spcBef>
                <a:spcPts val="150"/>
              </a:spcBef>
            </a:pPr>
            <a:r>
              <a:rPr sz="819">
                <a:solidFill>
                  <a:srgbClr val="475569"/>
                </a:solidFill>
              </a:rPr>
              <a:t>Direct data feed into AGMARKNET for standardized national price intelligence.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conqueror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841248" cy="84124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261872" y="256032"/>
            <a:ext cx="1234440" cy="658368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50">
                <a:solidFill>
                  <a:srgbClr val="0F172A"/>
                </a:solidFill>
                <a:latin typeface="Segoe UI"/>
              </a:rPr>
              <a:t>Team
Conquerors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228600"/>
            <a:ext cx="2267712" cy="71323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⚡ AXION HACKATHON
</a:t>
            </a:r>
            <a:r>
              <a:rPr b="1" sz="900">
                <a:solidFill>
                  <a:srgbClr val="FFFFFF"/>
                </a:solidFill>
                <a:latin typeface="Segoe UI"/>
              </a:rPr>
              <a:t>Round 1 Selection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64592"/>
            <a:ext cx="6812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LIVE PROTOTYPE DEMONSTRATION &amp; TEAM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60350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i="1">
                <a:solidFill>
                  <a:srgbClr val="475569"/>
                </a:solidFill>
                <a:latin typeface="Segoe UI"/>
              </a:rPr>
              <a:t>Verified Production Platform, Open-Source Repository &amp; Team Conquerors Credentials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5486400" cy="38404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📸 LIVE PRODUCTION APPLICATION SHOWCASE</a:t>
            </a:r>
          </a:p>
        </p:txBody>
      </p:sp>
      <p:pic>
        <p:nvPicPr>
          <p:cNvPr id="10" name="Picture 9" descr="dashboard_farmer_man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5212080" cy="2057400"/>
          </a:xfrm>
          <a:prstGeom prst="rect">
            <a:avLst/>
          </a:prstGeom>
        </p:spPr>
      </p:pic>
      <p:pic>
        <p:nvPicPr>
          <p:cNvPr id="11" name="Picture 10" descr="dashboard_login_ro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86200"/>
            <a:ext cx="521208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309360" y="1188720"/>
            <a:ext cx="525780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257800" cy="38404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  👥 TEAM CONQUERORS &amp; DIRECT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0F172A"/>
                </a:solidFill>
              </a:rPr>
              <a:t>🎉 Team Name: Conquerors
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1D4ED8"/>
                </a:solidFill>
              </a:rPr>
              <a:t>👤 Team Lead: Aditya Pawar
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0F172A"/>
                </a:solidFill>
              </a:rPr>
              <a:t>🛠️ Core Competencies: </a:t>
            </a:r>
            <a:r>
              <a:rPr sz="950">
                <a:solidFill>
                  <a:srgbClr val="475569"/>
                </a:solidFill>
              </a:rPr>
              <a:t>Next.js 16, Python FastAPI, Computer Vision (OpenCV), Operations Research (Google OR-Tools), LightGBM, SHA-256 Ledger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566160"/>
            <a:ext cx="48920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D4ED8"/>
                </a:solidFill>
              </a:rPr>
              <a:t>🌐 LIVE PRODUCTION APPLICATION
</a:t>
            </a:r>
            <a:r>
              <a:rPr b="1" sz="1050">
                <a:solidFill>
                  <a:srgbClr val="1D4ED8"/>
                </a:solidFill>
              </a:rPr>
              <a:t>https://krishisetu-ai-mu.vercel.app (Click to test live)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489204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059669"/>
                </a:solidFill>
              </a:rPr>
              <a:t>💻 OPEN-SOURCE GITHUB REPOSITORY
</a:t>
            </a:r>
            <a:r>
              <a:rPr b="1" sz="1000">
                <a:solidFill>
                  <a:srgbClr val="1D4ED8"/>
                </a:solidFill>
              </a:rPr>
              <a:t>https://github.com/pawaraditya0903/krishisetu-ai (Click to inspect code)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6400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50">
                <a:solidFill>
                  <a:srgbClr val="94A3B8"/>
                </a:solidFill>
                <a:latin typeface="Segoe UI"/>
              </a:rPr>
              <a:t>🌾 KrishiSetu AI (कृषीसेतू)  |  AI-Driven Market Linkage, Net Realization &amp; FPO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455664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950">
                <a:solidFill>
                  <a:srgbClr val="38BDF8"/>
                </a:solidFill>
                <a:latin typeface="Segoe UI"/>
              </a:rPr>
              <a:t>AXION HACKATHON — ROUND 1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55664"/>
            <a:ext cx="1280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>
                <a:solidFill>
                  <a:srgbClr val="FFFFFF"/>
                </a:solidFill>
                <a:latin typeface="Segoe UI"/>
              </a:rPr>
              <a:t>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